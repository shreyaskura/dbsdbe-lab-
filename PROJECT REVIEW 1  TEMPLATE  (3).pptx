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5E1524-12CA-4B08-9D94-8D1D390DB87A}" v="2" dt="2026-08-18T03:51:01.0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99" autoAdjust="0"/>
    <p:restoredTop sz="95033" autoAdjust="0"/>
  </p:normalViewPr>
  <p:slideViewPr>
    <p:cSldViewPr snapToGrid="0" snapToObjects="1">
      <p:cViewPr varScale="1">
        <p:scale>
          <a:sx n="78" d="100"/>
          <a:sy n="78" d="100"/>
        </p:scale>
        <p:origin x="610" y="7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opathi Vinyasri" userId="4081f3b1c85f89af" providerId="LiveId" clId="{B127BFD3-1C5D-4FC7-BD02-CB7819EC05C9}"/>
    <pc:docChg chg="custSel modSld">
      <pc:chgData name="Dropathi Vinyasri" userId="4081f3b1c85f89af" providerId="LiveId" clId="{B127BFD3-1C5D-4FC7-BD02-CB7819EC05C9}" dt="2026-08-18T03:51:06.257" v="176" actId="27636"/>
      <pc:docMkLst>
        <pc:docMk/>
      </pc:docMkLst>
      <pc:sldChg chg="modSp mod">
        <pc:chgData name="Dropathi Vinyasri" userId="4081f3b1c85f89af" providerId="LiveId" clId="{B127BFD3-1C5D-4FC7-BD02-CB7819EC05C9}" dt="2026-08-18T03:35:56.562" v="104" actId="20577"/>
        <pc:sldMkLst>
          <pc:docMk/>
          <pc:sldMk cId="3362554174" sldId="258"/>
        </pc:sldMkLst>
        <pc:graphicFrameChg chg="modGraphic">
          <ac:chgData name="Dropathi Vinyasri" userId="4081f3b1c85f89af" providerId="LiveId" clId="{B127BFD3-1C5D-4FC7-BD02-CB7819EC05C9}" dt="2026-08-18T03:35:56.562" v="104" actId="20577"/>
          <ac:graphicFrameMkLst>
            <pc:docMk/>
            <pc:sldMk cId="3362554174" sldId="258"/>
            <ac:graphicFrameMk id="12" creationId="{F5C1A452-4633-BB68-A150-FAF552C36CB9}"/>
          </ac:graphicFrameMkLst>
        </pc:graphicFrameChg>
      </pc:sldChg>
      <pc:sldChg chg="modSp mod">
        <pc:chgData name="Dropathi Vinyasri" userId="4081f3b1c85f89af" providerId="LiveId" clId="{B127BFD3-1C5D-4FC7-BD02-CB7819EC05C9}" dt="2026-08-18T03:36:23.023" v="158" actId="20577"/>
        <pc:sldMkLst>
          <pc:docMk/>
          <pc:sldMk cId="1183936719" sldId="377"/>
        </pc:sldMkLst>
        <pc:graphicFrameChg chg="modGraphic">
          <ac:chgData name="Dropathi Vinyasri" userId="4081f3b1c85f89af" providerId="LiveId" clId="{B127BFD3-1C5D-4FC7-BD02-CB7819EC05C9}" dt="2026-08-18T03:36:23.023" v="158" actId="20577"/>
          <ac:graphicFrameMkLst>
            <pc:docMk/>
            <pc:sldMk cId="1183936719" sldId="377"/>
            <ac:graphicFrameMk id="7" creationId="{BD94FEB8-52D1-2D12-5891-6583D8FD44BE}"/>
          </ac:graphicFrameMkLst>
        </pc:graphicFrameChg>
      </pc:sldChg>
      <pc:sldChg chg="modSp mod">
        <pc:chgData name="Dropathi Vinyasri" userId="4081f3b1c85f89af" providerId="LiveId" clId="{B127BFD3-1C5D-4FC7-BD02-CB7819EC05C9}" dt="2026-08-18T03:48:25.425" v="163" actId="27636"/>
        <pc:sldMkLst>
          <pc:docMk/>
          <pc:sldMk cId="2105092368" sldId="392"/>
        </pc:sldMkLst>
        <pc:spChg chg="mod">
          <ac:chgData name="Dropathi Vinyasri" userId="4081f3b1c85f89af" providerId="LiveId" clId="{B127BFD3-1C5D-4FC7-BD02-CB7819EC05C9}" dt="2026-08-18T03:48:25.425" v="163" actId="27636"/>
          <ac:spMkLst>
            <pc:docMk/>
            <pc:sldMk cId="2105092368" sldId="392"/>
            <ac:spMk id="4" creationId="{B50241EE-20FA-FE88-F0CE-F84CFE3ED762}"/>
          </ac:spMkLst>
        </pc:spChg>
      </pc:sldChg>
      <pc:sldChg chg="modSp mod">
        <pc:chgData name="Dropathi Vinyasri" userId="4081f3b1c85f89af" providerId="LiveId" clId="{B127BFD3-1C5D-4FC7-BD02-CB7819EC05C9}" dt="2026-08-18T03:48:39.291" v="165" actId="27636"/>
        <pc:sldMkLst>
          <pc:docMk/>
          <pc:sldMk cId="3485086799" sldId="393"/>
        </pc:sldMkLst>
        <pc:spChg chg="mod">
          <ac:chgData name="Dropathi Vinyasri" userId="4081f3b1c85f89af" providerId="LiveId" clId="{B127BFD3-1C5D-4FC7-BD02-CB7819EC05C9}" dt="2026-08-18T03:48:39.291" v="165" actId="27636"/>
          <ac:spMkLst>
            <pc:docMk/>
            <pc:sldMk cId="3485086799" sldId="393"/>
            <ac:spMk id="4" creationId="{056021FD-8573-454E-AAE6-0DB770428D43}"/>
          </ac:spMkLst>
        </pc:spChg>
      </pc:sldChg>
      <pc:sldChg chg="modSp mod">
        <pc:chgData name="Dropathi Vinyasri" userId="4081f3b1c85f89af" providerId="LiveId" clId="{B127BFD3-1C5D-4FC7-BD02-CB7819EC05C9}" dt="2026-08-18T03:50:10.688" v="171" actId="20577"/>
        <pc:sldMkLst>
          <pc:docMk/>
          <pc:sldMk cId="2029224968" sldId="394"/>
        </pc:sldMkLst>
        <pc:spChg chg="mod">
          <ac:chgData name="Dropathi Vinyasri" userId="4081f3b1c85f89af" providerId="LiveId" clId="{B127BFD3-1C5D-4FC7-BD02-CB7819EC05C9}" dt="2026-08-18T03:50:10.688" v="171" actId="20577"/>
          <ac:spMkLst>
            <pc:docMk/>
            <pc:sldMk cId="2029224968" sldId="394"/>
            <ac:spMk id="4" creationId="{1A1C0964-43C5-DE58-F74B-F0B3B1F5C984}"/>
          </ac:spMkLst>
        </pc:spChg>
      </pc:sldChg>
      <pc:sldChg chg="modSp mod">
        <pc:chgData name="Dropathi Vinyasri" userId="4081f3b1c85f89af" providerId="LiveId" clId="{B127BFD3-1C5D-4FC7-BD02-CB7819EC05C9}" dt="2026-08-18T03:51:06.257" v="176" actId="27636"/>
        <pc:sldMkLst>
          <pc:docMk/>
          <pc:sldMk cId="3949831833" sldId="395"/>
        </pc:sldMkLst>
        <pc:spChg chg="mod">
          <ac:chgData name="Dropathi Vinyasri" userId="4081f3b1c85f89af" providerId="LiveId" clId="{B127BFD3-1C5D-4FC7-BD02-CB7819EC05C9}" dt="2026-08-18T03:51:06.257" v="176" actId="27636"/>
          <ac:spMkLst>
            <pc:docMk/>
            <pc:sldMk cId="3949831833" sldId="395"/>
            <ac:spMk id="4" creationId="{A105A205-0B24-5585-AD3A-14F0657A956C}"/>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8/18/2026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18-08-2026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18-08-2026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18-08-2026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18-08-2026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18-08-2026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18-08-2026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18-08-2026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18-08-2026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18-08-2026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18-08-2026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18-08-2026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18-08-2026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18-08-2026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18-08-2026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18-08-2026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18-08-2026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18-08-2026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18-08-2026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US" sz="2400" b="1" dirty="0">
                <a:solidFill>
                  <a:srgbClr val="011893"/>
                </a:solidFill>
                <a:latin typeface="+mn-lt"/>
                <a:cs typeface="Arial" panose="020B0604020202020204" pitchFamily="34" charset="0"/>
              </a:rPr>
              <a:t>Distributed Video Anomaly Detection in Large-Scale Surveillance Systems Using HDFS and Cluster-Visualized Federated CNN–LSTM Models</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213232268"/>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Shreyas</a:t>
                      </a:r>
                    </a:p>
                  </a:txBody>
                  <a:tcPr/>
                </a:tc>
                <a:tc>
                  <a:txBody>
                    <a:bodyPr/>
                    <a:lstStyle/>
                    <a:p>
                      <a:r>
                        <a:rPr lang="en-US" dirty="0"/>
                        <a:t>2520030119</a:t>
                      </a:r>
                    </a:p>
                  </a:txBody>
                  <a:tcPr/>
                </a:tc>
                <a:extLst>
                  <a:ext uri="{0D108BD9-81ED-4DB2-BD59-A6C34878D82A}">
                    <a16:rowId xmlns:a16="http://schemas.microsoft.com/office/drawing/2014/main" val="253518174"/>
                  </a:ext>
                </a:extLst>
              </a:tr>
              <a:tr h="370840">
                <a:tc>
                  <a:txBody>
                    <a:bodyPr/>
                    <a:lstStyle/>
                    <a:p>
                      <a:r>
                        <a:rPr lang="en-US" dirty="0"/>
                        <a:t>Venya Sri</a:t>
                      </a:r>
                    </a:p>
                  </a:txBody>
                  <a:tcPr/>
                </a:tc>
                <a:tc>
                  <a:txBody>
                    <a:bodyPr/>
                    <a:lstStyle/>
                    <a:p>
                      <a:r>
                        <a:rPr lang="en-US" dirty="0"/>
                        <a:t>2520030531</a:t>
                      </a:r>
                    </a:p>
                  </a:txBody>
                  <a:tcPr/>
                </a:tc>
                <a:extLst>
                  <a:ext uri="{0D108BD9-81ED-4DB2-BD59-A6C34878D82A}">
                    <a16:rowId xmlns:a16="http://schemas.microsoft.com/office/drawing/2014/main" val="2413438055"/>
                  </a:ext>
                </a:extLst>
              </a:tr>
              <a:tr h="370840">
                <a:tc>
                  <a:txBody>
                    <a:bodyPr/>
                    <a:lstStyle/>
                    <a:p>
                      <a:r>
                        <a:rPr lang="en-US" dirty="0"/>
                        <a:t>Vansika Reddy</a:t>
                      </a:r>
                    </a:p>
                  </a:txBody>
                  <a:tcPr/>
                </a:tc>
                <a:tc>
                  <a:txBody>
                    <a:bodyPr/>
                    <a:lstStyle/>
                    <a:p>
                      <a:r>
                        <a:rPr lang="en-US" dirty="0"/>
                        <a:t>2520030527</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2606942258"/>
              </p:ext>
            </p:extLst>
          </p:nvPr>
        </p:nvGraphicFramePr>
        <p:xfrm>
          <a:off x="838199" y="1416193"/>
          <a:ext cx="10515600" cy="3567649"/>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dirty="0"/>
                        <a:t>Shreyas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rPr lang="en-US" dirty="0"/>
                        <a:t>Venya Sri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Vansika Reddy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r h="6298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2168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59374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normAutofit/>
          </a:bodyPr>
          <a:lstStyle/>
          <a:p>
            <a:r>
              <a:rPr lang="en-IN" sz="2000" dirty="0"/>
              <a:t>The Sign Language Translator App is designed to help people communicate with sign language users who may face difficulties communicating with others. The application uses a camera to capture hand gestures and uses computer vision and machine learning to recognize the signs. The recognized signs are converted into text or speech for easy understanding.</a:t>
            </a:r>
          </a:p>
          <a:p>
            <a:r>
              <a:rPr lang="en-IN" sz="2000" dirty="0"/>
              <a:t>The system uses a backend to process user requests and a database to store user details, recognized signs, and translation history. Technologies such as </a:t>
            </a:r>
            <a:r>
              <a:rPr lang="en-IN" sz="2000" dirty="0" err="1"/>
              <a:t>FastAPI</a:t>
            </a:r>
            <a:r>
              <a:rPr lang="en-IN" sz="2000" dirty="0"/>
              <a:t>, PostgreSQL, MongoDB, and Docker can be used to develop the system. The main goal of this project is to provide a simple, accessible, and efficient solution for reducing the communication gap between sign language users and others.</a:t>
            </a:r>
          </a:p>
          <a:p>
            <a:pPr marL="0" indent="0">
              <a:buNone/>
            </a:pPr>
            <a:endParaRPr lang="en-US"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a:bodyPr>
          <a:lstStyle/>
          <a:p>
            <a:r>
              <a:rPr lang="en-IN" sz="2200" dirty="0"/>
              <a:t>Sign language is an important communication method used by people with hearing or speech difficulties. However, many people do not understand sign language, which can create communication difficulties in educational institutions, hospitals, workplaces, public services, and everyday situations.</a:t>
            </a:r>
          </a:p>
          <a:p>
            <a:r>
              <a:rPr lang="en-IN" sz="2200" dirty="0"/>
              <a:t>The proposed </a:t>
            </a:r>
            <a:r>
              <a:rPr lang="en-IN" sz="2200" b="1" dirty="0"/>
              <a:t>Sign Language Translator App</a:t>
            </a:r>
            <a:r>
              <a:rPr lang="en-IN" sz="2200" dirty="0"/>
              <a:t> aims to provide a bridge between sign language users and non-sign-language users. The application captures hand gestures through a camera and processes the captured input using computer vision and machine learning. The system identifies the gesture and produces the corresponding text or speech output.</a:t>
            </a:r>
          </a:p>
          <a:p>
            <a:r>
              <a:rPr lang="en-IN" sz="2200" dirty="0"/>
              <a:t>From the software engineering perspective, the project is not limited to gesture recognition. It also involves </a:t>
            </a:r>
            <a:r>
              <a:rPr lang="en-IN" sz="2200" b="1" dirty="0"/>
              <a:t>database design, REST API development, authentication, multiple database technologies, microservices, containerization, monitoring, and CI/CD</a:t>
            </a:r>
            <a:r>
              <a:rPr lang="en-IN" sz="2200" dirty="0"/>
              <a:t>.</a:t>
            </a:r>
          </a:p>
          <a:p>
            <a:pPr marL="0" indent="0">
              <a:buNone/>
            </a:pPr>
            <a:endParaRPr lang="en-US"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rmAutofit/>
          </a:bodyPr>
          <a:lstStyle/>
          <a:p>
            <a:pPr marL="0" indent="0">
              <a:buNone/>
            </a:pPr>
            <a:r>
              <a:rPr lang="en-IN" sz="2200" dirty="0"/>
              <a:t>Currently, sign language users mainly communicate with others through:</a:t>
            </a:r>
          </a:p>
          <a:p>
            <a:pPr lvl="0"/>
            <a:r>
              <a:rPr lang="en-IN" sz="2200" dirty="0"/>
              <a:t> Human interpreters </a:t>
            </a:r>
          </a:p>
          <a:p>
            <a:pPr lvl="0"/>
            <a:r>
              <a:rPr lang="en-IN" sz="2200" dirty="0"/>
              <a:t> Writing or texting </a:t>
            </a:r>
          </a:p>
          <a:p>
            <a:pPr lvl="0"/>
            <a:r>
              <a:rPr lang="en-IN" sz="2200" dirty="0"/>
              <a:t> Sign language dictionaries </a:t>
            </a:r>
          </a:p>
          <a:p>
            <a:pPr lvl="0"/>
            <a:r>
              <a:rPr lang="en-IN" sz="2200" dirty="0"/>
              <a:t> Basic sign language learning apps </a:t>
            </a:r>
          </a:p>
          <a:p>
            <a:pPr lvl="0"/>
            <a:r>
              <a:rPr lang="en-IN" sz="2200" dirty="0"/>
              <a:t> Manually searching for sign meanings </a:t>
            </a:r>
          </a:p>
          <a:p>
            <a:pPr marL="0" indent="0">
              <a:buNone/>
            </a:pPr>
            <a:r>
              <a:rPr lang="en-IN" sz="2200" dirty="0"/>
              <a:t>Some existing apps can recognize hand gestures, but they may support only a </a:t>
            </a:r>
            <a:r>
              <a:rPr lang="en-IN" sz="2200" b="1" dirty="0"/>
              <a:t>limited number of signs and languages</a:t>
            </a:r>
            <a:r>
              <a:rPr lang="en-IN" sz="2200" dirty="0"/>
              <a:t>. They may also lack features such as </a:t>
            </a:r>
            <a:r>
              <a:rPr lang="en-IN" sz="2200" b="1" dirty="0"/>
              <a:t>translation history, user accounts, secure login, database management, and scalable backend services</a:t>
            </a:r>
            <a:r>
              <a:rPr lang="en-IN" sz="2200" dirty="0"/>
              <a:t>.</a:t>
            </a:r>
          </a:p>
          <a:p>
            <a:pPr marL="0" indent="0">
              <a:buNone/>
            </a:pPr>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normAutofit/>
          </a:bodyPr>
          <a:lstStyle/>
          <a:p>
            <a:pPr marL="0" indent="0">
              <a:buNone/>
            </a:pPr>
            <a:r>
              <a:rPr lang="en-IN" sz="2000" dirty="0"/>
              <a:t>Sign language users may face difficulty communicating with people who do not understand sign language. Existing methods can be slow or require manual assistance. A simple and efficient automated translation system is needed.</a:t>
            </a:r>
          </a:p>
          <a:p>
            <a:pPr marL="0" indent="0">
              <a:buNone/>
            </a:pPr>
            <a:endParaRPr lang="en-IN" sz="2000" dirty="0"/>
          </a:p>
          <a:p>
            <a:pPr lvl="0"/>
            <a:r>
              <a:rPr lang="en-IN" sz="2000" dirty="0"/>
              <a:t>Capture sign language gestures using a camera. </a:t>
            </a:r>
          </a:p>
          <a:p>
            <a:pPr lvl="0"/>
            <a:r>
              <a:rPr lang="en-IN" sz="2000" dirty="0"/>
              <a:t>Automatically recognize hand gestures. </a:t>
            </a:r>
          </a:p>
          <a:p>
            <a:pPr lvl="0"/>
            <a:r>
              <a:rPr lang="en-IN" sz="2000" dirty="0"/>
              <a:t>Convert recognized gestures into text or speech. </a:t>
            </a:r>
          </a:p>
          <a:p>
            <a:pPr lvl="0"/>
            <a:r>
              <a:rPr lang="en-IN" sz="2000" dirty="0"/>
              <a:t>Store translation information efficiently. </a:t>
            </a:r>
          </a:p>
          <a:p>
            <a:pPr lvl="0"/>
            <a:r>
              <a:rPr lang="en-IN" sz="2000" dirty="0"/>
              <a:t>Provide secure user authentication. </a:t>
            </a:r>
          </a:p>
          <a:p>
            <a:pPr lvl="0"/>
            <a:r>
              <a:rPr lang="en-IN" sz="2000" dirty="0"/>
              <a:t>Maintain translation history. </a:t>
            </a:r>
          </a:p>
          <a:p>
            <a:pPr lvl="0"/>
            <a:r>
              <a:rPr lang="en-IN" sz="2000" dirty="0"/>
              <a:t>Support efficient database operations.</a:t>
            </a:r>
          </a:p>
          <a:p>
            <a:pPr marL="0" indent="0">
              <a:buNone/>
            </a:pPr>
            <a:endParaRPr lang="en-US" sz="2000" dirty="0"/>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a:bodyPr>
          <a:lstStyle/>
          <a:p>
            <a:pPr lvl="0"/>
            <a:r>
              <a:rPr lang="en-IN" sz="2000" b="1" dirty="0"/>
              <a:t>Login &amp; Gesture Capture</a:t>
            </a:r>
            <a:r>
              <a:rPr lang="en-IN" sz="2000" dirty="0"/>
              <a:t> – The user logs in, and the camera captures the hand gesture. </a:t>
            </a:r>
          </a:p>
          <a:p>
            <a:pPr lvl="0"/>
            <a:r>
              <a:rPr lang="en-IN" sz="2000" b="1" dirty="0"/>
              <a:t>Gesture Recognition</a:t>
            </a:r>
            <a:r>
              <a:rPr lang="en-IN" sz="2000" dirty="0"/>
              <a:t> – Computer vision processes the image/video, and the machine learning model identifies the sign. </a:t>
            </a:r>
          </a:p>
          <a:p>
            <a:pPr lvl="0"/>
            <a:r>
              <a:rPr lang="en-IN" sz="2000" b="1" dirty="0"/>
              <a:t>Backend Processing</a:t>
            </a:r>
            <a:r>
              <a:rPr lang="en-IN" sz="2000" dirty="0"/>
              <a:t> – The recognized sign is sent to the backend through a REST API for validation and processing. </a:t>
            </a:r>
          </a:p>
          <a:p>
            <a:pPr lvl="0"/>
            <a:r>
              <a:rPr lang="en-IN" sz="2000" b="1" dirty="0"/>
              <a:t>Database Storage</a:t>
            </a:r>
            <a:r>
              <a:rPr lang="en-IN" sz="2000" dirty="0"/>
              <a:t> – The translation result and relevant information are stored in the database. </a:t>
            </a:r>
          </a:p>
          <a:p>
            <a:pPr lvl="0"/>
            <a:r>
              <a:rPr lang="en-IN" sz="2000" b="1" dirty="0"/>
              <a:t>Output &amp; History</a:t>
            </a:r>
            <a:r>
              <a:rPr lang="en-IN" sz="2000" dirty="0"/>
              <a:t> – The translated text or speech is displayed to the user, and the translation is saved for future history.</a:t>
            </a:r>
          </a:p>
          <a:p>
            <a:endParaRPr lang="en-US"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lstStyle/>
          <a:p>
            <a:pPr lvl="0"/>
            <a:r>
              <a:rPr lang="en-IN" dirty="0"/>
              <a:t>Recognize sign language gestures. </a:t>
            </a:r>
          </a:p>
          <a:p>
            <a:pPr lvl="0"/>
            <a:r>
              <a:rPr lang="en-IN" dirty="0"/>
              <a:t>Convert signs into text or speech. </a:t>
            </a:r>
          </a:p>
          <a:p>
            <a:pPr lvl="0"/>
            <a:r>
              <a:rPr lang="en-IN" dirty="0"/>
              <a:t>Store translation history. </a:t>
            </a:r>
          </a:p>
          <a:p>
            <a:pPr lvl="0"/>
            <a:r>
              <a:rPr lang="en-IN" dirty="0"/>
              <a:t>Provide secure user authentication. </a:t>
            </a:r>
          </a:p>
          <a:p>
            <a:pPr lvl="0"/>
            <a:r>
              <a:rPr lang="en-IN" dirty="0"/>
              <a:t>Develop a reliable and scalable system. </a:t>
            </a:r>
          </a:p>
          <a:p>
            <a:pPr lvl="0"/>
            <a:r>
              <a:rPr lang="en-IN" dirty="0"/>
              <a:t>Improve communication between users.</a:t>
            </a:r>
          </a:p>
          <a:p>
            <a:pPr marL="0" indent="0">
              <a:buNone/>
            </a:pPr>
            <a:endParaRPr lang="en-US"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a:lstStyle/>
          <a:p>
            <a:pPr marL="0" indent="0">
              <a:spcAft>
                <a:spcPts val="700"/>
              </a:spcAft>
              <a:buNone/>
              <a:defRPr sz="1700"/>
            </a:pPr>
            <a:r>
              <a:rPr lang="en-US" dirty="0"/>
              <a:t>• Gesture Recognition: Detects and recognizes hand signs.</a:t>
            </a:r>
          </a:p>
          <a:p>
            <a:pPr marL="0" indent="0">
              <a:spcAft>
                <a:spcPts val="700"/>
              </a:spcAft>
              <a:buNone/>
              <a:defRPr sz="1700"/>
            </a:pPr>
            <a:r>
              <a:rPr lang="en-US" dirty="0"/>
              <a:t>• User Management: Registration, login and authentication.</a:t>
            </a:r>
          </a:p>
          <a:p>
            <a:pPr marL="0" indent="0">
              <a:spcAft>
                <a:spcPts val="700"/>
              </a:spcAft>
              <a:buNone/>
              <a:defRPr sz="1700"/>
            </a:pPr>
            <a:r>
              <a:rPr lang="en-US" dirty="0"/>
              <a:t>• Translation: Converts recognized signs into text/speech.</a:t>
            </a:r>
          </a:p>
          <a:p>
            <a:pPr marL="0" indent="0">
              <a:spcAft>
                <a:spcPts val="700"/>
              </a:spcAft>
              <a:buNone/>
              <a:defRPr sz="1700"/>
            </a:pPr>
            <a:r>
              <a:rPr lang="en-US" dirty="0"/>
              <a:t>• Database: Stores users, signs and translation history.</a:t>
            </a:r>
          </a:p>
          <a:p>
            <a:pPr marL="0" indent="0">
              <a:spcAft>
                <a:spcPts val="700"/>
              </a:spcAft>
              <a:buNone/>
              <a:defRPr sz="1700"/>
            </a:pPr>
            <a:r>
              <a:rPr lang="en-US" dirty="0"/>
              <a:t>• Backend API: Handles requests and database communication.</a:t>
            </a:r>
          </a:p>
          <a:p>
            <a:pPr marL="0" indent="0">
              <a:spcAft>
                <a:spcPts val="700"/>
              </a:spcAft>
              <a:buNone/>
              <a:defRPr sz="1700"/>
            </a:pPr>
            <a:r>
              <a:rPr lang="en-US" dirty="0"/>
              <a:t>• Deployment: Docker, monitoring and scalable services.</a:t>
            </a:r>
          </a:p>
          <a:p>
            <a:endParaRPr lang="en-US"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a:lstStyle/>
          <a:p>
            <a:r>
              <a:rPr lang="en-IN" dirty="0"/>
              <a:t>Python, OpenCV, </a:t>
            </a:r>
            <a:r>
              <a:rPr lang="en-IN" dirty="0" err="1"/>
              <a:t>MediaPipe</a:t>
            </a:r>
            <a:r>
              <a:rPr lang="en-IN" dirty="0"/>
              <a:t>, </a:t>
            </a:r>
            <a:r>
              <a:rPr lang="en-IN" dirty="0" err="1"/>
              <a:t>FastAPI</a:t>
            </a:r>
            <a:r>
              <a:rPr lang="en-IN" dirty="0"/>
              <a:t>, Node.js, Spring Boot, PostgreSQL, MongoDB, React.js, Docker, GitHub, Prometheus, Grafana</a:t>
            </a:r>
          </a:p>
          <a:p>
            <a:endParaRPr lang="en-US" dirty="0"/>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3" name="TextBox 2">
            <a:extLst>
              <a:ext uri="{FF2B5EF4-FFF2-40B4-BE49-F238E27FC236}">
                <a16:creationId xmlns:a16="http://schemas.microsoft.com/office/drawing/2014/main" id="{B3D6E192-5EF2-26C9-2BD5-A9F4DD4B4146}"/>
              </a:ext>
            </a:extLst>
          </p:cNvPr>
          <p:cNvSpPr txBox="1"/>
          <p:nvPr/>
        </p:nvSpPr>
        <p:spPr>
          <a:xfrm>
            <a:off x="791606" y="1409216"/>
            <a:ext cx="9783097" cy="4039567"/>
          </a:xfrm>
          <a:prstGeom prst="rect">
            <a:avLst/>
          </a:prstGeom>
          <a:noFill/>
        </p:spPr>
        <p:txBody>
          <a:bodyPr wrap="square" rtlCol="0">
            <a:spAutoFit/>
          </a:bodyPr>
          <a:lstStyle/>
          <a:p>
            <a:pPr>
              <a:spcAft>
                <a:spcPts val="700"/>
              </a:spcAft>
              <a:defRPr sz="1700" b="1"/>
            </a:pPr>
            <a:r>
              <a:rPr lang="en-US" dirty="0"/>
              <a:t>CONCLUSION</a:t>
            </a:r>
          </a:p>
          <a:p>
            <a:pPr>
              <a:spcAft>
                <a:spcPts val="700"/>
              </a:spcAft>
              <a:defRPr sz="1700"/>
            </a:pPr>
            <a:r>
              <a:rPr lang="en-US" dirty="0"/>
              <a:t>The Sign Language Translator App provides an easy and accessible way to convert sign language into text or speech. It combines machine learning, backend APIs, and database technologies to create a reliable communication solution.</a:t>
            </a:r>
          </a:p>
          <a:p>
            <a:pPr>
              <a:spcAft>
                <a:spcPts val="700"/>
              </a:spcAft>
              <a:defRPr sz="1700"/>
            </a:pPr>
            <a:endParaRPr lang="en-US" dirty="0"/>
          </a:p>
          <a:p>
            <a:pPr>
              <a:spcAft>
                <a:spcPts val="700"/>
              </a:spcAft>
              <a:defRPr sz="1700" b="1"/>
            </a:pPr>
            <a:r>
              <a:rPr lang="en-US" dirty="0"/>
              <a:t>FUTURE SCOPE</a:t>
            </a:r>
          </a:p>
          <a:p>
            <a:pPr>
              <a:spcAft>
                <a:spcPts val="700"/>
              </a:spcAft>
              <a:defRPr sz="1700"/>
            </a:pPr>
            <a:r>
              <a:rPr lang="en-US" dirty="0"/>
              <a:t>• Support more signs and languages.</a:t>
            </a:r>
          </a:p>
          <a:p>
            <a:pPr>
              <a:spcAft>
                <a:spcPts val="700"/>
              </a:spcAft>
              <a:defRPr sz="1700"/>
            </a:pPr>
            <a:r>
              <a:rPr lang="en-US" dirty="0"/>
              <a:t>• Real-time sign translation.</a:t>
            </a:r>
          </a:p>
          <a:p>
            <a:pPr>
              <a:spcAft>
                <a:spcPts val="700"/>
              </a:spcAft>
              <a:defRPr sz="1700"/>
            </a:pPr>
            <a:r>
              <a:rPr lang="en-US" dirty="0"/>
              <a:t>• Mobile application.</a:t>
            </a:r>
          </a:p>
          <a:p>
            <a:pPr>
              <a:spcAft>
                <a:spcPts val="700"/>
              </a:spcAft>
              <a:defRPr sz="1700"/>
            </a:pPr>
            <a:r>
              <a:rPr lang="en-US" dirty="0"/>
              <a:t>• Two-way communication.</a:t>
            </a:r>
          </a:p>
          <a:p>
            <a:pPr>
              <a:spcAft>
                <a:spcPts val="700"/>
              </a:spcAft>
              <a:defRPr sz="1700"/>
            </a:pPr>
            <a:r>
              <a:rPr lang="en-US" dirty="0"/>
              <a:t>• Advanced AI-based recognition.</a:t>
            </a:r>
          </a:p>
          <a:p>
            <a:pPr>
              <a:spcAft>
                <a:spcPts val="700"/>
              </a:spcAft>
              <a:defRPr sz="1700"/>
            </a:pPr>
            <a:r>
              <a:rPr lang="en-US" dirty="0"/>
              <a:t>• Cloud deployment and scalability.</a:t>
            </a: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8262</TotalTime>
  <Words>835</Words>
  <Application>Microsoft Office PowerPoint</Application>
  <PresentationFormat>Widescreen</PresentationFormat>
  <Paragraphs>116</Paragraphs>
  <Slides>12</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Calibri</vt:lpstr>
      <vt:lpstr>Calibri Light</vt:lpstr>
      <vt:lpstr>Office Theme</vt:lpstr>
      <vt:lpstr>Custom Design</vt:lpstr>
      <vt:lpstr> 1st  REVIEW  Distributed Video Anomaly Detection in Large-Scale Surveillance Systems Using HDFS and Cluster-Visualized Federated CNN–LSTM Models </vt:lpstr>
      <vt:lpstr>GROUP NUMBER:1</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Dropathi Vinyasri</cp:lastModifiedBy>
  <cp:revision>94</cp:revision>
  <dcterms:created xsi:type="dcterms:W3CDTF">2022-05-20T10:20:31Z</dcterms:created>
  <dcterms:modified xsi:type="dcterms:W3CDTF">2026-08-18T03:51:09Z</dcterms:modified>
</cp:coreProperties>
</file>